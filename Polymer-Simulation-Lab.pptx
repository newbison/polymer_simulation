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Polymer Simulation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77240" y="3337560"/>
            <a:ext cx="182880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polymerization kinetics &amp; network visualization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纯前端 · 零依赖 · file:// 双击即开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443484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44348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4434840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4434840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让高分子化学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变得可见、可调、可玩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24328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2624328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看得见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把抽象的动力学方程（Mayo-Lewis、Carothers、Flory）变成屏幕上翻滚的分子链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55848" y="1828800"/>
            <a:ext cx="2624328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55848" y="1828800"/>
            <a:ext cx="2624328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3584448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可调节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27432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拖动滑块即时改变配方——单体比例、反应速率、交联度，看性能曲线如何响应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63056" y="1828800"/>
            <a:ext cx="2624328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3056" y="1828800"/>
            <a:ext cx="2624328" cy="10972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4" name="Text 12"/>
          <p:cNvSpPr/>
          <p:nvPr/>
        </p:nvSpPr>
        <p:spPr>
          <a:xfrm>
            <a:off x="6391656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零门槛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91656" y="27432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单个 HTML 文件，file:// 双击即开，无需服务器、无需安装、无外部依赖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这是一套面向教学与自学的交互式聚合反应模拟平台 —— 从自由基链增长到氮丙啶交联成胶，四种机理一气呵成。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Simulation Lab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四个模拟器，四种聚合机理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每个都有独立配方参数、实时读数、事件日志和性能曲线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91440" cy="1508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490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Free-Radical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89280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链增长：引发 → 增长 → 终止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Rouse 珠-簧模型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 / Mw / PDI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91440" cy="1508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760720" y="1490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Copolymerization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0" y="189280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Mayo-Lewis 双单体动力学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r₁/r₂ 滑块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组成漂移曲线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17520"/>
            <a:ext cx="91440" cy="15087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54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Step-Growth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5844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+ BB 缩聚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一键一水（H₂O 副产物）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Carothers 1/(1−p)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17520"/>
            <a:ext cx="91440" cy="15087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154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76072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Crosslinking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60720" y="35844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三官能氮丙啶开环交联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不可逆酰胺键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Flory 凝胶点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Simulation Lab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物理内核：Rouse 珠-簧模型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让聚合物链像真实溶液高分子一样蜷曲、翻滚 —— 而不是僵硬地拖着走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24328" cy="1828800"/>
          </a:xfrm>
          <a:prstGeom prst="rect">
            <a:avLst/>
          </a:prstGeom>
          <a:solidFill>
            <a:srgbClr val="11223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642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每珠独立布朗踢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每个链段都接受随机扰动，构象自由抖动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55848" y="1463040"/>
            <a:ext cx="2624328" cy="1828800"/>
          </a:xfrm>
          <a:prstGeom prst="rect">
            <a:avLst/>
          </a:prstGeom>
          <a:solidFill>
            <a:srgbClr val="11223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164592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33088" y="16642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对称弹簧弛豫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84448" y="2331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相邻珠间谐振弹簧，a += F/2，b −= F/2，遵守牛顿第三定律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1463040"/>
            <a:ext cx="2624328" cy="1828800"/>
          </a:xfrm>
          <a:prstGeom prst="rect">
            <a:avLst/>
          </a:prstGeom>
          <a:solidFill>
            <a:srgbClr val="11223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45936" y="164592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40296" y="16642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整链 CM 漂移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91656" y="2331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阻尼动量驱动整链平移，扩散 ∝ 1/N 自然涌现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8046720" cy="1005840"/>
          </a:xfrm>
          <a:prstGeom prst="rect">
            <a:avLst/>
          </a:prstGeom>
          <a:solidFill>
            <a:srgbClr val="11223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旧模型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只有链头受力，尾巴僵硬拉直 —— 违反真实高分子构象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新模型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三步 Rouse：构象柔软、整链翻滚、CM 扩散自然涌现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Simulation Lab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动力学：概率门控的正确离散化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高速档下也能保持物理意义，不让反应概率"爆表"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0" cy="128016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旧的（饱和）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Math.random() &lt; k * dt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k·dt &gt; 1 时恒为真 → 概率门控失效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4023360" cy="128016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新的（Poisson 极限）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Math.random() &lt; 1 - Math.exp(-k*dt)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恒 ≤ 1，大 dt 下行为正确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化学方程也都按教材实现：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337560"/>
            <a:ext cx="73152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37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Mayo-Lewis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40280" y="3337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P(M₁) = r₁[M₁] / (r₁[M₁]+[M₂])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33756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337560"/>
            <a:ext cx="73152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337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Carothers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55080" y="3337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Xn = 1 / (1 − p)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931920"/>
            <a:ext cx="73152" cy="5029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Flory-Stockmayer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240280" y="39319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p_c = 1 / (f − 1)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93192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931920"/>
            <a:ext cx="73152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 / Mw / PDI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55080" y="39319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Mw=ΣDP²/ΣDP, PDI=Mw/Mn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Simulation Lab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亮点：氮丙啶交联（溶剂型丙烯酸酯 PSA）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三官能氮丙啶 + 丙烯酸酯共聚物 -COOH → 室温开环交联 → 三维网络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657600" cy="2194560"/>
          </a:xfrm>
          <a:prstGeom prst="rect">
            <a:avLst/>
          </a:prstGeom>
          <a:solidFill>
            <a:srgbClr val="11223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开环反应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P−COOH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N(CH₂CH₂)₃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室温 · 亲核开环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P−CO−NH−CH₂CH₂−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(酰胺键)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个三元环各连一条链 → 三维分支网络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2057400" cy="1051560"/>
          </a:xfrm>
          <a:prstGeom prst="rect">
            <a:avLst/>
          </a:prstGeom>
          <a:solidFill>
            <a:srgbClr val="112236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1325880"/>
            <a:ext cx="2057400" cy="7315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真实配比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5–10% mol，氮丙啶占 -COOH 的 10–30%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1325880"/>
            <a:ext cx="2057400" cy="1051560"/>
          </a:xfrm>
          <a:prstGeom prst="rect">
            <a:avLst/>
          </a:prstGeom>
          <a:solidFill>
            <a:srgbClr val="112236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9400" y="1325880"/>
            <a:ext cx="2057400" cy="731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位阻效应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环反应概率仅 ~15%，有效官能度 ≈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2496312"/>
            <a:ext cx="2057400" cy="1051560"/>
          </a:xfrm>
          <a:prstGeom prst="rect">
            <a:avLst/>
          </a:prstGeom>
          <a:solidFill>
            <a:srgbClr val="112236"/>
          </a:solidFill>
          <a:ln/>
        </p:spPr>
      </p:sp>
      <p:sp>
        <p:nvSpPr>
          <p:cNvPr id="19" name="Shape 17"/>
          <p:cNvSpPr/>
          <p:nvPr/>
        </p:nvSpPr>
        <p:spPr>
          <a:xfrm>
            <a:off x="4434840" y="2496312"/>
            <a:ext cx="2057400" cy="731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不可逆 + 协同运动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29535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酰胺键刚性约束，被交联两链整体翻滚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2496312"/>
            <a:ext cx="2057400" cy="1051560"/>
          </a:xfrm>
          <a:prstGeom prst="rect">
            <a:avLst/>
          </a:prstGeom>
          <a:solidFill>
            <a:srgbClr val="112236"/>
          </a:solidFill>
          <a:ln/>
        </p:spPr>
      </p:sp>
      <p:sp>
        <p:nvSpPr>
          <p:cNvPr id="23" name="Shape 21"/>
          <p:cNvSpPr/>
          <p:nvPr/>
        </p:nvSpPr>
        <p:spPr>
          <a:xfrm>
            <a:off x="6629400" y="2496312"/>
            <a:ext cx="20574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凝胶点判据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9535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追踪连通分量，渗流阈值 → GEL 锁存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8229600" cy="777240"/>
          </a:xfrm>
          <a:prstGeom prst="rect">
            <a:avLst/>
          </a:prstGeom>
          <a:solidFill>
            <a:srgbClr val="112236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3840480"/>
            <a:ext cx="91440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实时性能曲线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初粘力（先升后降，最优窗口 ~2%）· 持粘力 · 180°剥离 · 内聚力 —— 随交联度实时变化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Simulation Lab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架构：共享内核 + 四个独立模拟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194560" cy="64008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88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lib/renderer.js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94560" cy="64008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lib/ui-base.js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3774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1887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free-radical/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2971800" y="1335024"/>
            <a:ext cx="274320" cy="18288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755648"/>
            <a:ext cx="23774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7556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copolymer/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5400000">
            <a:off x="2971800" y="1901952"/>
            <a:ext cx="274320" cy="18288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2322576"/>
            <a:ext cx="23774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23225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step-growth/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5400000">
            <a:off x="2971800" y="2468880"/>
            <a:ext cx="274320" cy="18288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3383280" y="2889504"/>
            <a:ext cx="23774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28895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crosslink/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5400000">
            <a:off x="2971800" y="3035808"/>
            <a:ext cx="274320" cy="18288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828800"/>
            <a:ext cx="2103120" cy="914400"/>
          </a:xfrm>
          <a:prstGeom prst="rect">
            <a:avLst/>
          </a:prstGeom>
          <a:solidFill>
            <a:srgbClr val="EC489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bundle.js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 拼接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rot="5400000">
            <a:off x="5897880" y="1335024"/>
            <a:ext cx="274320" cy="18288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23" name="Shape 21"/>
          <p:cNvSpPr/>
          <p:nvPr/>
        </p:nvSpPr>
        <p:spPr>
          <a:xfrm rot="5400000">
            <a:off x="5897880" y="1901952"/>
            <a:ext cx="274320" cy="18288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 rot="5400000">
            <a:off x="5897880" y="2468880"/>
            <a:ext cx="274320" cy="18288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25" name="Shape 23"/>
          <p:cNvSpPr/>
          <p:nvPr/>
        </p:nvSpPr>
        <p:spPr>
          <a:xfrm rot="5400000">
            <a:off x="5897880" y="3035808"/>
            <a:ext cx="274320" cy="18288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26" name="Shape 24"/>
          <p:cNvSpPr/>
          <p:nvPr/>
        </p:nvSpPr>
        <p:spPr>
          <a:xfrm>
            <a:off x="3383280" y="3566160"/>
            <a:ext cx="5212080" cy="5943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83280" y="35661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file:// 双击即开，无服务器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rot="10800000">
            <a:off x="7315200" y="2834640"/>
            <a:ext cx="274320" cy="18288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零依赖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 vanilla JS，仅 Google Fonts（CSS @import）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Simulation Lab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960120"/>
          </a:xfrm>
          <a:prstGeom prst="rect">
            <a:avLst/>
          </a:prstGeom>
          <a:solidFill>
            <a:srgbClr val="11223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80160"/>
            <a:ext cx="91440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89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更多聚合机理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乳液聚合、ATRP/RAFT 活性聚合、开环聚合（ROMP）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960120"/>
          </a:xfrm>
          <a:prstGeom prst="rect">
            <a:avLst/>
          </a:prstGeom>
          <a:solidFill>
            <a:srgbClr val="11223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80160"/>
            <a:ext cx="91440" cy="960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89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真实参数库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内置常见单体/引发剂的 Q-e、kd/kp/kt 文献值，一键载入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3931920" cy="960120"/>
          </a:xfrm>
          <a:prstGeom prst="rect">
            <a:avLst/>
          </a:prstGeom>
          <a:solidFill>
            <a:srgbClr val="11223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423160"/>
            <a:ext cx="91440" cy="9601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32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导出与对比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保存配方、叠加多次运行曲线、生成实验报告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423160"/>
            <a:ext cx="3931920" cy="960120"/>
          </a:xfrm>
          <a:prstGeom prst="rect">
            <a:avLst/>
          </a:prstGeom>
          <a:solidFill>
            <a:srgbClr val="11223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423160"/>
            <a:ext cx="91440" cy="9601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532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可视化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三维无规线团与网络，呈现真实分子构象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138160" cy="640080"/>
          </a:xfrm>
          <a:prstGeom prst="rect">
            <a:avLst/>
          </a:prstGeom>
          <a:solidFill>
            <a:srgbClr val="11223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77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把动力学方程从课本搬进浏览器 —— 让每个滑块都通向一次"啊哈"。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Simulation Lab  ·  file:// 双击即开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Polymer Simulation Lab — Project Intro</dc:title>
  <dc:subject>PptxGenJS Presentation</dc:subject>
  <dc:creator>Polymer Simulation Lab</dc:creator>
  <cp:lastModifiedBy>Polymer Simulation Lab</cp:lastModifiedBy>
  <cp:revision>1</cp:revision>
  <dcterms:created xsi:type="dcterms:W3CDTF">2026-06-14T06:47:05Z</dcterms:created>
  <dcterms:modified xsi:type="dcterms:W3CDTF">2026-06-14T06:47:05Z</dcterms:modified>
</cp:coreProperties>
</file>